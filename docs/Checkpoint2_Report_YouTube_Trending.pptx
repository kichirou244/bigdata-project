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1C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0515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9EDDE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ĐỒ ÁN 2 • CHECKPOINT REPORT</a:t>
            </a:r>
            <a:endParaRPr lang="en-US" sz="1900" dirty="0"/>
          </a:p>
        </p:txBody>
      </p:sp>
      <p:sp>
        <p:nvSpPr>
          <p:cNvPr id="3" name="Text 1"/>
          <p:cNvSpPr/>
          <p:nvPr/>
        </p:nvSpPr>
        <p:spPr>
          <a:xfrm>
            <a:off x="685800" y="1737360"/>
            <a:ext cx="9692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Environment → Ingestion → Raw Storage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85800" y="2788920"/>
            <a:ext cx="6903720" cy="20746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D5E3E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Nhóm: YouTube Trending Analytics (4 thành viên)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85800" y="3246120"/>
            <a:ext cx="6903720" cy="20746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D5E3E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Đề tài: Phân tích Xu hướng &amp; Tốc độ Tăng trưởng Video Thịnh hành YouTube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85800" y="3703320"/>
            <a:ext cx="6903720" cy="20746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D5E3E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Git commit/tag: tag checkpoint-2  (git log -1 checkpoint-2)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7680960" y="2331720"/>
            <a:ext cx="3383280" cy="2011680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5240">
            <a:solidFill>
              <a:srgbClr val="06B6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45552" y="2468880"/>
            <a:ext cx="30540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6B6D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QUY TẮC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845552" y="2862072"/>
            <a:ext cx="3054096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5B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Tối đa 4 phút. Mỗi slide phải có evidence: terminal, repo, raw file, manifest hoặc log.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2004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CHECKPOINT 2 • SLIDE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713232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Architecture update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5B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Chỉ vẽ phần đã triển khai đến Checkpoint 2.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874520"/>
            <a:ext cx="10698480" cy="3566160"/>
          </a:xfrm>
          <a:prstGeom prst="roundRect">
            <a:avLst>
              <a:gd name="adj" fmla="val 1282"/>
            </a:avLst>
          </a:prstGeom>
          <a:solidFill>
            <a:srgbClr val="FFFFFF"/>
          </a:solidFill>
          <a:ln w="15240">
            <a:solidFill>
              <a:srgbClr val="1D4ED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41832" y="2011680"/>
            <a:ext cx="10369296" cy="1755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SƠ ĐỒ ARCHITECTURE (phần đã triển khai đến Checkpoint 2)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41832" y="2832506"/>
            <a:ext cx="10369296" cy="20891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[ Kaggle CSV 8,59 GB ]  →  ingest_file.py  →  data/raw/…/run_…/</a:t>
            </a:r>
            <a:endParaRPr lang="en-US" sz="13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   (113 quốc gia)          quality gate          + SHA-256 + manifest.json</a:t>
            </a:r>
          </a:p>
          <a:p>
            <a:pPr algn="l" indent="0" marL="0">
              <a:buNone/>
            </a:pPr>
            <a:r>
              <a:rPr lang="en-US" sz="105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                                ↓</a:t>
            </a:r>
          </a:p>
          <a:p>
            <a:pPr algn="l" indent="0" marL="0">
              <a:buNone/>
            </a:pPr>
            <a:r>
              <a:rPr lang="en-US" sz="105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                     split_csv.py  (chuẩn hóa 1 dòng = 1 record → 33 chunk)</a:t>
            </a:r>
          </a:p>
          <a:p>
            <a:pPr algn="l" indent="0" marL="0">
              <a:buNone/>
            </a:pPr>
            <a:r>
              <a:rPr lang="en-US" sz="105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                                ↓</a:t>
            </a:r>
          </a:p>
          <a:p>
            <a:pPr algn="l" indent="0" marL="0">
              <a:buNone/>
            </a:pPr>
            <a:r>
              <a:rPr lang="en-US" sz="105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                     Spark 3.5.1 local[*]  →  Parquet phân vùng</a:t>
            </a:r>
          </a:p>
          <a:p>
            <a:pPr algn="l" indent="0" marL="0">
              <a:buNone/>
            </a:pPr>
            <a:r>
              <a:rPr lang="en-US" sz="105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                     (region / year_month)     daily + summary = 341 MB</a:t>
            </a:r>
          </a:p>
          <a:p>
            <a:pPr algn="l" indent="0" marL="0">
              <a:buNone/>
            </a:pPr>
            <a:r>
              <a:rPr lang="en-US" sz="105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                                ↓</a:t>
            </a:r>
          </a:p>
          <a:p>
            <a:pPr algn="l" indent="0" marL="0">
              <a:buNone/>
            </a:pPr>
            <a:r>
              <a:rPr lang="en-US" sz="105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                     DuckDB  →  Streamlit dashboard   (P3, vượt yêu cầu)</a:t>
            </a:r>
          </a:p>
          <a:p>
            <a:pPr algn="l" indent="0" marL="0">
              <a:buNone/>
            </a:pPr>
            <a:r>
              <a:rPr lang="en-US" sz="105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/>
            </a:r>
          </a:p>
          <a:p>
            <a:pPr algn="l" indent="0" marL="0">
              <a:buNone/>
            </a:pPr>
            <a:r>
              <a:rPr lang="en-US" sz="105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Technology: Python 3.12 · JDK 17 · PySpark 3.5.1 · DuckDB · Streamlit · Parquet</a:t>
            </a:r>
          </a:p>
          <a:p>
            <a:pPr algn="l" indent="0" marL="0">
              <a:buNone/>
            </a:pPr>
            <a:r>
              <a:rPr lang="en-US" sz="105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Boundary của nhóm: môi trường + ingestion + raw storage (có bằng chứng chạy);</a:t>
            </a:r>
          </a:p>
          <a:p>
            <a:pPr algn="l" indent="0" marL="0">
              <a:buNone/>
            </a:pPr>
            <a:r>
              <a:rPr lang="en-US" sz="105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P3 transform &amp; dashboard làm thêm cho Buổi 7–8, không tính vào checkpoint này.</a:t>
            </a:r>
          </a:p>
        </p:txBody>
      </p:sp>
      <p:sp>
        <p:nvSpPr>
          <p:cNvPr id="8" name="Text 6"/>
          <p:cNvSpPr/>
          <p:nvPr/>
        </p:nvSpPr>
        <p:spPr>
          <a:xfrm>
            <a:off x="868680" y="5623560"/>
            <a:ext cx="10241280" cy="3351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5B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câu giải thích trade-off chính: máy cá nhân 16 GB RAM nên chạy Spark local[*] + chuẩn hóa CSV trước (1 dòng = 1 record) thay vì multiLine=true (phải nạp nguyên file 8,59 GB vào 1 task → OOM); cột description (~8 GB) giữ nguyên ở raw, chỉ drop ở tầng metric.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2004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CHECKPOINT 2 • SLIDE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713232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Environment evidence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5B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Chứng minh có thể tái tạo và chạy Spark.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828800"/>
            <a:ext cx="5074920" cy="3429000"/>
          </a:xfrm>
          <a:prstGeom prst="roundRect">
            <a:avLst>
              <a:gd name="adj" fmla="val 1333"/>
            </a:avLst>
          </a:prstGeom>
          <a:solidFill>
            <a:srgbClr val="FFFFFF"/>
          </a:solidFill>
          <a:ln w="15240">
            <a:solidFill>
              <a:srgbClr val="06B6D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41832" y="1965960"/>
            <a:ext cx="4745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6B6D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41832" y="2959256"/>
            <a:ext cx="4745736" cy="16070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Output logs/env_check.txt:</a:t>
            </a:r>
            <a:endParaRPr lang="en-US" sz="13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/>
            </a:r>
          </a:p>
          <a:p>
            <a:pPr algn="l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  Python   : 3.12.10</a:t>
            </a:r>
          </a:p>
          <a:p>
            <a:pPr algn="l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  JAVA_HOME: D:\Code\SDK\jdk\jdk-17.0.20.1+1</a:t>
            </a:r>
          </a:p>
          <a:p>
            <a:pPr algn="l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  Java     : openjdk version "17.0.20.1"</a:t>
            </a:r>
          </a:p>
          <a:p>
            <a:pPr algn="l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  Spark    : 3.5.1</a:t>
            </a:r>
          </a:p>
          <a:p>
            <a:pPr algn="l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  Count    : 1000000 (mong đợi 1000000)</a:t>
            </a:r>
          </a:p>
          <a:p>
            <a:pPr algn="l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  RESULT   : PASS</a:t>
            </a:r>
          </a:p>
          <a:p>
            <a:pPr algn="l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/>
            </a:r>
          </a:p>
          <a:p>
            <a:pPr algn="l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→ smoke test chạy lại được, exit code 0 (22/10/2026)</a:t>
            </a:r>
          </a:p>
        </p:txBody>
      </p:sp>
      <p:sp>
        <p:nvSpPr>
          <p:cNvPr id="8" name="Shape 6"/>
          <p:cNvSpPr/>
          <p:nvPr/>
        </p:nvSpPr>
        <p:spPr>
          <a:xfrm>
            <a:off x="6263640" y="1828800"/>
            <a:ext cx="5074920" cy="109728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5240">
            <a:solidFill>
              <a:srgbClr val="1D4ED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28232" y="1965960"/>
            <a:ext cx="4745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D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SETUP COMMAND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28232" y="2367324"/>
            <a:ext cx="4745736" cy="45914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python -m venv .venv</a:t>
            </a:r>
            <a:endParaRPr lang="en-US" sz="13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.venv\Scripts\pip install -r requirements.txt</a:t>
            </a:r>
          </a:p>
          <a:p>
            <a:pPr algn="l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.venv\Scripts\python.exe src\env_check.py</a:t>
            </a:r>
          </a:p>
        </p:txBody>
      </p:sp>
      <p:sp>
        <p:nvSpPr>
          <p:cNvPr id="11" name="Shape 9"/>
          <p:cNvSpPr/>
          <p:nvPr/>
        </p:nvSpPr>
        <p:spPr>
          <a:xfrm>
            <a:off x="6263640" y="3246120"/>
            <a:ext cx="5074920" cy="109728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524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28232" y="3383280"/>
            <a:ext cx="4745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EXECUTION MODE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428232" y="3926442"/>
            <a:ext cx="4745736" cy="1755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5B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local[*] trên Windows (Spark 3.5.1 + JDK 17)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263640" y="4663440"/>
            <a:ext cx="5074920" cy="9601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5240">
            <a:solidFill>
              <a:srgbClr val="EF444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28232" y="4800600"/>
            <a:ext cx="4745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F44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BLOCKER (nếu có)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28232" y="5166792"/>
            <a:ext cx="4745736" cy="319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Đã xử lý: thiếu winutils.exe (Spark ghi Parquet) → tự cấu hình HADOOP_HOME + PATH trong transform.py, không cài Hadoop hệ thống.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2004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CHECKPOINT 2 • SLIDE 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713232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source &amp; ingestion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5B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Nguồn dữ liệu phải cụ thể và job phải chạy được.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828800"/>
            <a:ext cx="5074920" cy="109728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5240">
            <a:solidFill>
              <a:srgbClr val="F59E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41832" y="1965960"/>
            <a:ext cx="4745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41832" y="2513112"/>
            <a:ext cx="4745736" cy="1675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5B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https://www.kaggle.com/datasets/asaniczka/trending-youtube-videos-113-countries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77240" y="3246120"/>
            <a:ext cx="5074920" cy="118872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5240">
            <a:solidFill>
              <a:srgbClr val="1D4ED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41832" y="3383280"/>
            <a:ext cx="4745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D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SCALE / VERSION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41832" y="3820554"/>
            <a:ext cx="4745736" cy="47876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8.591.418.141 bytes (8,59 GB) · 6.094.047 record · 18 cột · 113 quốc gia</a:t>
            </a:r>
            <a:endParaRPr lang="en-US" sz="13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snapshot_date 2023-10-26 → 2026-10-20 (snapshot tải 2026-10-20)</a:t>
            </a:r>
          </a:p>
          <a:p>
            <a:pPr algn="l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SHA-256 4310930bd2d1… (đầy đủ trong manifest.json)</a:t>
            </a:r>
          </a:p>
        </p:txBody>
      </p:sp>
      <p:sp>
        <p:nvSpPr>
          <p:cNvPr id="11" name="Shape 9"/>
          <p:cNvSpPr/>
          <p:nvPr/>
        </p:nvSpPr>
        <p:spPr>
          <a:xfrm>
            <a:off x="777240" y="4663440"/>
            <a:ext cx="5074920" cy="9601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524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41832" y="4800600"/>
            <a:ext cx="4745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PROVENANCE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941832" y="5166792"/>
            <a:ext cx="4745736" cy="319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Nguồn: Kaggle · license ODC-By · file gốc giữ ngoài repo; ingest = copy + hash + manifest → truy ngược được từng byte trong raw.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263640" y="1828800"/>
            <a:ext cx="5074920" cy="3520440"/>
          </a:xfrm>
          <a:prstGeom prst="roundRect">
            <a:avLst>
              <a:gd name="adj" fmla="val 1299"/>
            </a:avLst>
          </a:prstGeom>
          <a:solidFill>
            <a:srgbClr val="FFFFFF"/>
          </a:solidFill>
          <a:ln w="15240">
            <a:solidFill>
              <a:srgbClr val="22C55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28232" y="1965960"/>
            <a:ext cx="4745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INGESTION EVIDENCE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28232" y="3349333"/>
            <a:ext cx="4745736" cy="9182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Command:</a:t>
            </a:r>
            <a:endParaRPr lang="en-US" sz="13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  python src\ingest_file.py --source &lt;csv&gt; --dataset youtube_trending</a:t>
            </a:r>
          </a:p>
          <a:p>
            <a:pPr algn="l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/>
            </a:r>
          </a:p>
          <a:p>
            <a:pPr algn="l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Result (logs/ingest.log):</a:t>
            </a:r>
          </a:p>
          <a:p>
            <a:pPr algn="l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  success | files=1 | bytes=8591418141 | sha256=4310930bd2d1…</a:t>
            </a:r>
          </a:p>
          <a:p>
            <a:pPr algn="l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  run=run_20261020T143013Z | status=success | manifest ghi ra raw/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2004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CHECKPOINT 2 • SLIDE 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713232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Raw storage &amp; manifest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5B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Show path thật, không chỉ mô tả.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828800"/>
            <a:ext cx="5486400" cy="3520440"/>
          </a:xfrm>
          <a:prstGeom prst="roundRect">
            <a:avLst>
              <a:gd name="adj" fmla="val 1299"/>
            </a:avLst>
          </a:prstGeom>
          <a:solidFill>
            <a:srgbClr val="FFFFFF"/>
          </a:solidFill>
          <a:ln w="15240">
            <a:solidFill>
              <a:srgbClr val="22C55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41832" y="1965960"/>
            <a:ext cx="4745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RAW STORAGE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41832" y="3081499"/>
            <a:ext cx="5212080" cy="145395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Path convention:</a:t>
            </a:r>
            <a:endParaRPr lang="en-US" sz="130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  data/raw/&lt;dataset&gt;/ingest_date=YYYY-MM-DD/run_&lt;UTC&gt;/</a:t>
            </a:r>
          </a:p>
          <a:p>
            <a:pPr algn="l" indent="0" marL="0">
              <a:buNone/>
            </a:pPr>
            <a:r>
              <a:rPr lang="en-US" sz="95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/>
            </a:r>
          </a:p>
          <a:p>
            <a:pPr algn="l" indent="0" marL="0">
              <a:buNone/>
            </a:pPr>
            <a:r>
              <a:rPr lang="en-US" sz="95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  data/raw/youtube_trending/</a:t>
            </a:r>
          </a:p>
          <a:p>
            <a:pPr algn="l" indent="0" marL="0">
              <a:buNone/>
            </a:pPr>
            <a:r>
              <a:rPr lang="en-US" sz="95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    ingest_date=2026-10-20/</a:t>
            </a:r>
          </a:p>
          <a:p>
            <a:pPr algn="l" indent="0" marL="0">
              <a:buNone/>
            </a:pPr>
            <a:r>
              <a:rPr lang="en-US" sz="95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      run_20261020T143013Z/</a:t>
            </a:r>
          </a:p>
          <a:p>
            <a:pPr algn="l" indent="0" marL="0">
              <a:buNone/>
            </a:pPr>
            <a:r>
              <a:rPr lang="en-US" sz="95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        ├─ trending_yt_videos_113_countries.csv (8.591.418.141 bytes)</a:t>
            </a:r>
          </a:p>
          <a:p>
            <a:pPr algn="l" indent="0" marL="0">
              <a:buNone/>
            </a:pPr>
            <a:r>
              <a:rPr lang="en-US" sz="95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        └─ manifest.json                        (status: success)</a:t>
            </a:r>
          </a:p>
          <a:p>
            <a:pPr algn="l" indent="0" marL="0">
              <a:buNone/>
            </a:pPr>
            <a:r>
              <a:rPr lang="en-US" sz="95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/>
            </a:r>
          </a:p>
          <a:p>
            <a:pPr algn="l" indent="0" marL="0">
              <a:buNone/>
            </a:pPr>
            <a:r>
              <a:rPr lang="en-US" sz="95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Raw file size: 8.591.418.141 bytes (8,59 GB) – không rỗng, giữ nguyên bản gốc.</a:t>
            </a:r>
          </a:p>
        </p:txBody>
      </p:sp>
      <p:sp>
        <p:nvSpPr>
          <p:cNvPr id="8" name="Shape 6"/>
          <p:cNvSpPr/>
          <p:nvPr/>
        </p:nvSpPr>
        <p:spPr>
          <a:xfrm>
            <a:off x="6263640" y="1828800"/>
            <a:ext cx="5074920" cy="3520440"/>
          </a:xfrm>
          <a:prstGeom prst="roundRect">
            <a:avLst>
              <a:gd name="adj" fmla="val 1299"/>
            </a:avLst>
          </a:prstGeom>
          <a:solidFill>
            <a:srgbClr val="FFFFFF"/>
          </a:solidFill>
          <a:ln w="15240">
            <a:solidFill>
              <a:srgbClr val="1D4ED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28232" y="1965960"/>
            <a:ext cx="4745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D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MANIFEST / LOG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28232" y="2890190"/>
            <a:ext cx="4745736" cy="18365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manifest.json (cạnh raw file) – trường quan trọng:</a:t>
            </a:r>
            <a:endParaRPr lang="en-US" sz="13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  dataset       : youtube_trending</a:t>
            </a:r>
          </a:p>
          <a:p>
            <a:pPr algn="l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  source        : trending_yt_videos_113_countries.csv</a:t>
            </a:r>
          </a:p>
          <a:p>
            <a:pPr algn="l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  ingested_at   : 2026-10-20T14:30:13+00:00</a:t>
            </a:r>
          </a:p>
          <a:p>
            <a:pPr algn="l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  bytes         : 8591418141   (khớp đúng file trên đĩa)</a:t>
            </a:r>
          </a:p>
          <a:p>
            <a:pPr algn="l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  sha256        : 4310930bd2d1…</a:t>
            </a:r>
          </a:p>
          <a:p>
            <a:pPr algn="l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  destination   : data/raw/youtube_trending/ingest_date=…/run_…/</a:t>
            </a:r>
          </a:p>
          <a:p>
            <a:pPr algn="l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  records       : 6094047       (đếm chuẩn RFC4180)</a:t>
            </a:r>
          </a:p>
          <a:p>
            <a:pPr algn="l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  status        : success</a:t>
            </a:r>
          </a:p>
          <a:p>
            <a:pPr algn="l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  amendments[]  : 1 (ghi mọi thay đổi metadata, kèm mốc thời gian)</a:t>
            </a:r>
          </a:p>
          <a:p>
            <a:pPr algn="l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/>
            </a:r>
          </a:p>
          <a:p>
            <a:pPr algn="l" indent="0" marL="0">
              <a:buNone/>
            </a:pPr>
            <a:r>
              <a:rPr lang="en-US" sz="100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Log: logs/env_check.txt · logs/ingest.log · logs/transform.log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2004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CHECKPOINT 2 • SLIDE 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713232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Rerun behavior, blocker &amp; next action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5B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Kết thúc bằng quyết định kỹ thuật rõ ràng.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828800"/>
            <a:ext cx="5074920" cy="141732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5240">
            <a:solidFill>
              <a:srgbClr val="F59E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41832" y="1965960"/>
            <a:ext cx="4745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NẾU CHẠY INGEST 3 LẦN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41832" y="2393428"/>
            <a:ext cx="4745736" cy="72697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Mặc định --on-duplicate skip (idempotent theo SHA-256):</a:t>
            </a:r>
            <a:endParaRPr lang="en-US" sz="130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  lần 1   → tạo run_… + copy + manifest</a:t>
            </a:r>
          </a:p>
          <a:p>
            <a:pPr algn="l" indent="0" marL="0">
              <a:buNone/>
            </a:pPr>
            <a:r>
              <a:rPr lang="en-US" sz="95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  lần 2,3 → hash trùng → SKIP, raw KHÔNG đổi (log: duplicate_skip)</a:t>
            </a:r>
          </a:p>
          <a:p>
            <a:pPr algn="l" indent="0" marL="0">
              <a:buNone/>
            </a:pPr>
            <a:r>
              <a:rPr lang="en-US" sz="95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hash khác → run_id mới (append, không overwrite)</a:t>
            </a:r>
          </a:p>
          <a:p>
            <a:pPr algn="l" indent="0" marL="0">
              <a:buNone/>
            </a:pPr>
            <a:r>
              <a:rPr lang="en-US" sz="95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nguồn hỏng → fail-fast (exit 1), không tạo raw giả</a:t>
            </a:r>
          </a:p>
        </p:txBody>
      </p:sp>
      <p:sp>
        <p:nvSpPr>
          <p:cNvPr id="8" name="Shape 6"/>
          <p:cNvSpPr/>
          <p:nvPr/>
        </p:nvSpPr>
        <p:spPr>
          <a:xfrm>
            <a:off x="777240" y="3493008"/>
            <a:ext cx="5074920" cy="141732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5240">
            <a:solidFill>
              <a:srgbClr val="EF444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41832" y="3630168"/>
            <a:ext cx="4745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F44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BLOCKER LỚN NHẤT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41832" y="4062051"/>
            <a:ext cx="4745736" cy="7181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Schema nguồn Plan B khác đề cương (thiếu category_id, description nhiều dòng) → adapter SRC_MAP + split_csv.py (đã xử lý).</a:t>
            </a:r>
            <a:endParaRPr lang="en-US" sz="13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Rủi ro còn lại: dung lượng 8,59 GB + nguồn cập nhật hằng ngày → phải chạy ingest snapshot mới để so sánh growth.</a:t>
            </a:r>
          </a:p>
          <a:p>
            <a:pPr algn="l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Owner: Phúc (transform) · Khánh Linh (Parquet/DuckDB)   Deadline: trước Buổi 7</a:t>
            </a:r>
          </a:p>
        </p:txBody>
      </p:sp>
      <p:sp>
        <p:nvSpPr>
          <p:cNvPr id="11" name="Shape 9"/>
          <p:cNvSpPr/>
          <p:nvPr/>
        </p:nvSpPr>
        <p:spPr>
          <a:xfrm>
            <a:off x="6263640" y="1828800"/>
            <a:ext cx="5074920" cy="141732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5240">
            <a:solidFill>
              <a:srgbClr val="1D4ED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28232" y="1965960"/>
            <a:ext cx="4745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D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 LINKS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428232" y="2538823"/>
            <a:ext cx="4745736" cy="4361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Commit/tag: tag checkpoint-2  (git log -1 checkpoint-2)</a:t>
            </a:r>
            <a:endParaRPr lang="en-US" sz="130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Raw/manifest/log: data/raw/youtube_trending/…/run_…/manifest.json</a:t>
            </a:r>
          </a:p>
          <a:p>
            <a:pPr algn="l" indent="0" marL="0">
              <a:buNone/>
            </a:pPr>
            <a:r>
              <a:rPr lang="en-US" sz="950" dirty="0">
                <a:solidFill>
                  <a:srgbClr val="5B6B7A"/>
                </a:solidFill>
                <a:latin typeface="Consolas" pitchFamily="34" charset="0"/>
                <a:ea typeface="Aptos" pitchFamily="34" charset="-122"/>
                <a:cs typeface="Aptos" pitchFamily="34" charset="-120"/>
              </a:rPr>
              <a:t>logs/env_check.txt · logs/ingest.log · logs/transform.log</a:t>
            </a:r>
          </a:p>
        </p:txBody>
      </p:sp>
      <p:sp>
        <p:nvSpPr>
          <p:cNvPr id="14" name="Shape 12"/>
          <p:cNvSpPr/>
          <p:nvPr/>
        </p:nvSpPr>
        <p:spPr>
          <a:xfrm>
            <a:off x="6263640" y="3493008"/>
            <a:ext cx="5074920" cy="141732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5240">
            <a:solidFill>
              <a:srgbClr val="22C55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28232" y="3630168"/>
            <a:ext cx="4745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TRƯỚC BUỔI 7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28232" y="4269515"/>
            <a:ext cx="4745736" cy="30321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5B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1) Chạy ingest snapshot mới (nguồn cập nhật hằng ngày) để so sánh growth 2 kỳ.</a:t>
            </a:r>
            <a:endParaRPr lang="en-US" sz="130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5B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2) Demo dashboard trực tiếp + chốt đề cương Đồ án 3 (ML / nâng cao).</a:t>
            </a:r>
          </a:p>
        </p:txBody>
      </p:sp>
      <p:sp>
        <p:nvSpPr>
          <p:cNvPr id="17" name="Text 15"/>
          <p:cNvSpPr/>
          <p:nvPr/>
        </p:nvSpPr>
        <p:spPr>
          <a:xfrm>
            <a:off x="914400" y="5349240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1F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DONE = evidence + commit + hiểu data flow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HUET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OpenAI</dc:creator>
  <cp:lastModifiedBy>OpenAI</cp:lastModifiedBy>
  <cp:revision>1</cp:revision>
  <dcterms:created xsi:type="dcterms:W3CDTF">2026-09-11T15:42:44Z</dcterms:created>
  <dcterms:modified xsi:type="dcterms:W3CDTF">2026-09-11T15:42:44Z</dcterms:modified>
</cp:coreProperties>
</file>