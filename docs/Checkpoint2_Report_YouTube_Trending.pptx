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C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515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9EDD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2 • CHECKPOINT REPORT</a:t>
            </a:r>
            <a:endParaRPr lang="en-US" sz="1900" dirty="0"/>
          </a:p>
        </p:txBody>
      </p:sp>
      <p:sp>
        <p:nvSpPr>
          <p:cNvPr id="3" name="Text 1"/>
          <p:cNvSpPr/>
          <p:nvPr/>
        </p:nvSpPr>
        <p:spPr>
          <a:xfrm>
            <a:off x="685800" y="1737360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→ Ingestion → Raw Storage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788920"/>
            <a:ext cx="6812280" cy="2545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Nhóm: YouTube Trending Analytics  ·  4 thành viên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246120"/>
            <a:ext cx="6812280" cy="2545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tài: Phân tích Xu hướng &amp; Tốc độ Tăng trưởng Video Thịnh hành YouTube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85800" y="3703320"/>
            <a:ext cx="6812280" cy="2545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50" dirty="0" b="0">
                <a:solidFill>
                  <a:srgbClr val="D5E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commit/tag: tag checkpoint-2   (git log -1 checkpoint-2)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80960" y="2331720"/>
            <a:ext cx="3383280" cy="2011680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45552" y="2468880"/>
            <a:ext cx="30540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45552" y="2862072"/>
            <a:ext cx="3054096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đa 4 phút. Mỗi slide phải có evidence: terminal, repo, raw file, manifest hoặc log.</a:t>
            </a:r>
            <a:endParaRPr lang="en-US" sz="1300" dirty="0"/>
          </a:p>
        </p:txBody>
      </p:sp>
      <p:sp>
        <p:nvSpPr>
          <p:cNvPr id="10" name="Rule 1"/>
          <p:cNvSpPr/>
          <p:nvPr/>
        </p:nvSpPr>
        <p:spPr>
          <a:xfrm>
            <a:off x="685800" y="5797296"/>
            <a:ext cx="10817352" cy="12802"/>
          </a:xfrm>
          <a:prstGeom prst="rect">
            <a:avLst/>
          </a:prstGeom>
          <a:solidFill>
            <a:srgbClr val="1E3A52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Footer 1"/>
          <p:cNvSpPr txBox="1"/>
          <p:nvPr/>
        </p:nvSpPr>
        <p:spPr>
          <a:xfrm>
            <a:off x="685800" y="5925312"/>
            <a:ext cx="10817352" cy="1970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>
                <a:solidFill>
                  <a:srgbClr val="93ADC2"/>
                </a:solidFill>
                <a:latin typeface="Calibri"/>
              </a:rPr>
              <a:t>Buổi 6 · 20/10/2026   |   Phan Đình Bảo · Trương Đình Phúc · Trần Thị Khánh Linh · Đoàn Ngọc Trân Châu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update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vẽ phần đã triển khai đến Checkpoint 2.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10634472" cy="4526280"/>
          </a:xfrm>
          <a:prstGeom prst="roundRect">
            <a:avLst>
              <a:gd name="adj" fmla="val 1282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56816"/>
            <a:ext cx="101224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SƠ ĐỒ ARCHITECTURE — phần đã triển khai đến Checkpoint 2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33272" y="5376672"/>
            <a:ext cx="10122408" cy="361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chính: máy cá nhân 16 GB RAM nên nhóm chạy Spark local[*] và chuẩn hóa CSV trước (1 dòng = 1 record, 33 chunk) thay vì multiLine=true — nếu không, 1 task phải nạp nguyên file 8,59 GB vào RAM → OOM. Cột description (~8 GB) giữ nguyên ở raw, chỉ bỏ ở tầng metric.</a:t>
            </a:r>
            <a:endParaRPr lang="en-US" sz="1400" dirty="0"/>
          </a:p>
        </p:txBody>
      </p:sp>
      <p:sp>
        <p:nvSpPr>
          <p:cNvPr id="9" name="Rounded Rectangle 8"/>
          <p:cNvSpPr/>
          <p:nvPr/>
        </p:nvSpPr>
        <p:spPr>
          <a:xfrm>
            <a:off x="1033272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Badge 01"/>
          <p:cNvSpPr/>
          <p:nvPr/>
        </p:nvSpPr>
        <p:spPr>
          <a:xfrm>
            <a:off x="1161288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1288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Kaggle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1288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8,59 GB · 113 nước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6.094.047 record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63063" y="3191256"/>
            <a:ext cx="155448" cy="164592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759659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Badge 02"/>
          <p:cNvSpPr/>
          <p:nvPr/>
        </p:nvSpPr>
        <p:spPr>
          <a:xfrm>
            <a:off x="2887675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7675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ingest_file.py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7675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quality gate + SHA-256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copy nguyên bản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289450" y="3191256"/>
            <a:ext cx="155448" cy="164592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86046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Badge 03"/>
          <p:cNvSpPr/>
          <p:nvPr/>
        </p:nvSpPr>
        <p:spPr>
          <a:xfrm>
            <a:off x="4614062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4062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Raw storage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4062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data/raw/…/run_…/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+ manifest.json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015838" y="3191256"/>
            <a:ext cx="155448" cy="164592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12434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8A9AA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Badge 04"/>
          <p:cNvSpPr/>
          <p:nvPr/>
        </p:nvSpPr>
        <p:spPr>
          <a:xfrm>
            <a:off x="6340450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0450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split_csv.py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0450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1 dòng = 1 record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→ 33 chunk CSV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7742225" y="3191256"/>
            <a:ext cx="155448" cy="164592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938821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8A9AA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Badge 05"/>
          <p:cNvSpPr/>
          <p:nvPr/>
        </p:nvSpPr>
        <p:spPr>
          <a:xfrm>
            <a:off x="8066837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6837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Spark 3.5.1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6837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local[*] → Parquet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341 MB, partition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9468612" y="3191256"/>
            <a:ext cx="155448" cy="164592"/>
          </a:xfrm>
          <a:prstGeom prst="rightArrow">
            <a:avLst/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665208" y="2487168"/>
            <a:ext cx="1488643" cy="15727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8A9AA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Badge 06"/>
          <p:cNvSpPr/>
          <p:nvPr/>
        </p:nvSpPr>
        <p:spPr>
          <a:xfrm>
            <a:off x="9793224" y="2670048"/>
            <a:ext cx="402336" cy="329184"/>
          </a:xfrm>
          <a:prstGeom prst="roundRect">
            <a:avLst>
              <a:gd name="adj" fmla="val 25000"/>
            </a:avLst>
          </a:prstGeom>
          <a:solidFill>
            <a:srgbClr val="8A9AA8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793224" y="3090672"/>
            <a:ext cx="1250899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1">
                <a:solidFill>
                  <a:srgbClr val="0B1F33"/>
                </a:solidFill>
                <a:latin typeface="Calibri"/>
              </a:rPr>
              <a:t>DuckDB/Streamlit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93224" y="3511296"/>
            <a:ext cx="1250899" cy="27920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850" b="0">
                <a:solidFill>
                  <a:srgbClr val="8A9AA8"/>
                </a:solidFill>
                <a:latin typeface="Calibri"/>
              </a:rPr>
              <a:t>dashboard tương tác</a:t>
            </a:r>
          </a:p>
          <a:p>
            <a:r>
              <a:rPr sz="850" b="0">
                <a:solidFill>
                  <a:srgbClr val="8A9AA8"/>
                </a:solidFill>
                <a:latin typeface="Calibri"/>
              </a:rPr>
              <a:t>(P3 – làm thêm)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3272" y="4261104"/>
            <a:ext cx="10122408" cy="172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50" b="0">
                <a:solidFill>
                  <a:srgbClr val="5B6B7A"/>
                </a:solidFill>
                <a:latin typeface="Calibri"/>
              </a:rPr>
              <a:t>Technology:  Python 3.12 · JDK 17 · PySpark 3.5.1 · DuckDB · Streamlit · Parquet</a:t>
            </a:r>
          </a:p>
        </p:txBody>
      </p:sp>
      <p:sp>
        <p:nvSpPr>
          <p:cNvPr id="39" name="Band CK"/>
          <p:cNvSpPr/>
          <p:nvPr/>
        </p:nvSpPr>
        <p:spPr>
          <a:xfrm>
            <a:off x="1033272" y="4626864"/>
            <a:ext cx="4956048" cy="420624"/>
          </a:xfrm>
          <a:prstGeom prst="roundRect">
            <a:avLst>
              <a:gd name="adj" fmla="val 14000"/>
            </a:avLst>
          </a:prstGeom>
          <a:solidFill>
            <a:srgbClr val="EFF6FF"/>
          </a:solidFill>
          <a:ln w="11430">
            <a:solidFill>
              <a:srgbClr val="1D4ED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>
                <a:solidFill>
                  <a:srgbClr val="1D4ED8"/>
                </a:solidFill>
                <a:latin typeface="Calibri"/>
              </a:rPr>
              <a:t>TRONG CHECKPOINT 2 — 01 → 02 → 03, có evidence chạy thật</a:t>
            </a:r>
          </a:p>
        </p:txBody>
      </p:sp>
      <p:sp>
        <p:nvSpPr>
          <p:cNvPr id="40" name="Band P3"/>
          <p:cNvSpPr/>
          <p:nvPr/>
        </p:nvSpPr>
        <p:spPr>
          <a:xfrm>
            <a:off x="6016752" y="4626864"/>
            <a:ext cx="4882896" cy="420624"/>
          </a:xfrm>
          <a:prstGeom prst="roundRect">
            <a:avLst>
              <a:gd name="adj" fmla="val 14000"/>
            </a:avLst>
          </a:prstGeom>
          <a:solidFill>
            <a:srgbClr val="F4F6F8"/>
          </a:solidFill>
          <a:ln w="11430">
            <a:solidFill>
              <a:srgbClr val="8A9AA8"/>
            </a:solidFill>
          </a:ln>
          <a:effectLst/>
        </p:spPr>
        <p:txBody>
          <a:bodyPr rtlCol="0" anchor="ctr" wrap="square" lIns="0" rIns="0" tIns="0" bIns="0"/>
          <a:lstStyle/>
          <a:p>
            <a:pPr algn="ctr"/>
            <a:r>
              <a:rPr sz="1050" b="0">
                <a:solidFill>
                  <a:srgbClr val="5B6B7A"/>
                </a:solidFill>
                <a:latin typeface="Calibri"/>
              </a:rPr>
              <a:t>BUỔI 7–8 (P3) — 04 → 05 → 06, làm thêm ngoài yêu cầu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33272" y="5248656"/>
            <a:ext cx="9866376" cy="10973"/>
          </a:xfrm>
          <a:prstGeom prst="rect">
            <a:avLst/>
          </a:prstGeom>
          <a:solidFill>
            <a:srgbClr val="DBE3EA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evidence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có thể tái tạo và chạy Spark.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452628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524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582906"/>
            <a:ext cx="4562856" cy="34021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src\env_check.py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=== env_check 2026-10-21T17:11:56+00:00 ===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Python   : 3.12.10  (E:\bigdata-project)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JAVA_HOME: D:\Code\SDK\jdk\jdk-17.0.20.1+1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Java     : openjdk version "17.0.20.1"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Spark    : 3.5.1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Count    : 1000000 (mong đợi 1000000)</a:t>
            </a:r>
          </a:p>
          <a:p>
            <a:pPr algn="l" indent="0" marL="0">
              <a:buNone/>
            </a:pPr>
            <a:r>
              <a:rPr lang="en-US" sz="1200" dirty="0" b="1">
                <a:solidFill>
                  <a:srgbClr val="0E7C4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RESULT   : PASS  (exit code 0)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Điều kiện đã kiểm: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- .venv riêng, cài đủ từ requirements.txt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- JAVA_HOME trỏ JDK 17, không cài Spark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system-wide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- SparkSession local[*] khởi động được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- phép tính Spark trả đúng 1.000.000 dòng</a:t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2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Kết luận: máy khác clone repo là chạy lại được.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141102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COMMAND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478266"/>
            <a:ext cx="4562856" cy="4961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python -m venv .venv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.venv\Scripts\pip install -r requirements.txt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.venv\Scripts\python.exe src\env_check.py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3422707"/>
            <a:ext cx="5074920" cy="129262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9672" y="3550723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4072173"/>
            <a:ext cx="4562856" cy="37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local[*] trên Windows — Spark 3.5.1 + JDK 17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GB RAM · 16 logical CPU · không Docker/cluster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4898215"/>
            <a:ext cx="5074920" cy="1456865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5026231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(nếu có)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5547682"/>
            <a:ext cx="4562856" cy="541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winutils.exe khi Spark ghi Parquet trên Windows.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xử lý: transform.py tự set HADOOP_HOME + PATH vào hadoop/bin trong repo — không cài Hadoop hệ thống.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 &amp; ingestion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 phải cụ thể và job phải chạy được.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14665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423330"/>
            <a:ext cx="4562856" cy="6615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Dataset: Trending YouTube Videos (113 countries)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https://www.kaggle.com/datasets/asaniczka/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trending-youtube-videos-113-countries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tải về 2026-10-20 · giữ 1 file gốc, không sửa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3478215"/>
            <a:ext cx="5074920" cy="1346992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3606231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/ VERSION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33272" y="4072745"/>
            <a:ext cx="4562856" cy="541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8.591.418.141 bytes (8,59 GB)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6.094.047 record · 18 cột · 113 quốc gia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 2023-10-26 → 2026-10-20</a:t>
            </a:r>
          </a:p>
        </p:txBody>
      </p:sp>
      <p:sp>
        <p:nvSpPr>
          <p:cNvPr id="11" name="Shape 9"/>
          <p:cNvSpPr/>
          <p:nvPr/>
        </p:nvSpPr>
        <p:spPr>
          <a:xfrm>
            <a:off x="777240" y="5008088"/>
            <a:ext cx="5074920" cy="1346992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3272" y="5136104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33272" y="5602618"/>
            <a:ext cx="4562856" cy="541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· license ODC-By · ghi rõ nguồn khi dùng lại.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= copy + SHA-256 + manifest → truy ngược được từng byte trong raw.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8,59 GB không commit; chỉ commit manifest + log.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1828800"/>
            <a:ext cx="5074920" cy="452628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EVIDENCE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2464777"/>
            <a:ext cx="4562856" cy="3638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src\ingest_file.py --source &lt;csv&gt; \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--dataset youtube_trending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2026-10-20T14:30:40 | success | files=1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bytes=8591418141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sha256=4310930bd2d1…</a:t>
            </a:r>
          </a:p>
          <a:p>
            <a:pPr algn="l" indent="0" marL="0">
              <a:buNone/>
            </a:pPr>
            <a:r>
              <a:rPr lang="en-US" sz="1100" dirty="0" b="1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run=run_20261020T143013Z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2026-10-20T14:30:40 | manifest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data\raw\youtube_trending\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ingest_date=2026-10-20\run_20261020T143013Z\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manifest.json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$ python src\verify_raw_records.py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2026-10-21T17:20:17 | verify_records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records=6,094,047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physical_lines=134,442,959 (multi_line=True)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Chạy lại 3 lần cùng file: duplicate_skip x3</a:t>
            </a:r>
          </a:p>
          <a:p>
            <a:pPr algn="l" indent="0" marL="0">
              <a:buNone/>
            </a:pPr>
            <a:r>
              <a:rPr lang="en-US" sz="1100" dirty="0" b="1">
                <a:solidFill>
                  <a:srgbClr val="0E7C4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→ raw KHÔNG đổi, vẫn đúng 1 run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Exit code = 0 · raw chỉ được ghi 1 lần.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storage &amp; manifest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path thật, không chỉ mô tả.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303520" cy="452628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56816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STORAGE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984544"/>
            <a:ext cx="4791456" cy="2598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data/raw/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youtube_trending/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ingest_date=2026-10-20/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run_20261020T143013Z/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trending_yt_videos_113_countries.csv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  8.591.418.141 bytes (8,59 GB)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manifest.json   (status: success)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Path convention: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data/raw/&lt;dataset&gt;/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ingest_date=YYYY-MM-DD/run_&lt;UTC&gt;/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Raw file: không rỗng, giữ nguyên 100% bản gốc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(không sửa 1 byte so với nguồn tải về).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Đã kiểm: size + SHA-256 khớp manifest.</a:t>
            </a:r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074920" cy="4526280"/>
          </a:xfrm>
          <a:prstGeom prst="roundRect">
            <a:avLst>
              <a:gd name="adj" fmla="val 1299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196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 / LOG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19672" y="2811289"/>
            <a:ext cx="4562856" cy="2945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manifest.json (đặt cạnh raw file):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dataset      : youtube_trending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source       : trending_yt_videos_113_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         countries.csv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ingested_at  : 2026-10-20T14:30:13+00:00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bytes        : 8591418141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sha256       : 4310930bd2d1… (64 ký tự)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destination  : data/raw/…/run_…/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records      : 6094047  (RFC4180)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status       : success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amendments[] : 1 mục (mọi sửa metadata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         đều ghi lại kèm thời điểm)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/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 evidence: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logs/env_check.txt   → PASS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logs/ingest.log      → success + skip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logs/transform.log   → Spark 6.074.658 dòng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 2 • SLIDE 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94360" y="71323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0B1F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 behavior, blocker &amp; next action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94360" y="1261872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 bằng quyết định kỹ thuật rõ ràng.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1828800"/>
            <a:ext cx="5074920" cy="2069493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CHẠY INGEST 3 LẦN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33272" y="2642119"/>
            <a:ext cx="4562856" cy="8269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skip (mặc định): hash trùng → SKIP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lần 2, 3 → duplicate_skip, raw không đổi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new-run: hash trùng vẫn tạo run_id mới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fail: hash trùng → exit 1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hash khác → luôn tạo run mới (append)</a:t>
            </a:r>
          </a:p>
        </p:txBody>
      </p:sp>
      <p:sp>
        <p:nvSpPr>
          <p:cNvPr id="8" name="Shape 6"/>
          <p:cNvSpPr/>
          <p:nvPr/>
        </p:nvSpPr>
        <p:spPr>
          <a:xfrm>
            <a:off x="777240" y="4081173"/>
            <a:ext cx="5074920" cy="184413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33272" y="4209189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BLOCKER LỚN NHẤT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33272" y="4677922"/>
            <a:ext cx="4562856" cy="1034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nguồn khác đề cương: thiếu category_id,</a:t>
            </a:r>
            <a:endParaRPr lang="en-US" sz="1300" dirty="0"/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nhiều dòng → xử lý bằng SRC_MAP +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split_csv.py (1 dòng = 1 record).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Rủi ro còn lại: nguồn cập nhật hằng ngày.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Phúc (transform) · Linh (Parquet/DuckDB)</a:t>
            </a:r>
          </a:p>
          <a:p>
            <a:pPr algn="l" indent="0" marL="0">
              <a:buNone/>
            </a:pPr>
            <a:r>
              <a:rPr lang="en-US" sz="105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trước Buổi 7</a:t>
            </a:r>
          </a:p>
        </p:txBody>
      </p:sp>
      <p:sp>
        <p:nvSpPr>
          <p:cNvPr id="11" name="Shape 9"/>
          <p:cNvSpPr/>
          <p:nvPr/>
        </p:nvSpPr>
        <p:spPr>
          <a:xfrm>
            <a:off x="6263640" y="1828800"/>
            <a:ext cx="5074920" cy="2069493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19672" y="1956816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LINKS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19672" y="2425549"/>
            <a:ext cx="4562856" cy="12600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Tag: checkpoint-2  (git log -1 checkpoint-2)</a:t>
            </a:r>
            <a:endParaRPr lang="en-US" sz="1300" dirty="0"/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Manifest: data/raw/youtube_trending/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…/run_20261020T143013Z/manifest.json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Logs: logs/env_check.txt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logs/ingest.log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logs/transform.log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Reports: docs/Checkpoint2_Report_*.pptx</a:t>
            </a:r>
          </a:p>
          <a:p>
            <a:pPr algn="l" indent="0" marL="0">
              <a:buNone/>
            </a:pPr>
            <a:r>
              <a:rPr lang="en-US" sz="1000" dirty="0" b="0">
                <a:solidFill>
                  <a:srgbClr val="5B6B7A"/>
                </a:solidFill>
                <a:latin typeface="Consolas" pitchFamily="34" charset="0"/>
                <a:ea typeface="Calibri" pitchFamily="34" charset="-122"/>
                <a:cs typeface="Calibri" pitchFamily="34" charset="-120"/>
              </a:rPr>
              <a:t>         docs/Checkpoint2_Brief_Filled.docx</a:t>
            </a:r>
          </a:p>
        </p:txBody>
      </p:sp>
      <p:sp>
        <p:nvSpPr>
          <p:cNvPr id="14" name="Shape 12"/>
          <p:cNvSpPr/>
          <p:nvPr/>
        </p:nvSpPr>
        <p:spPr>
          <a:xfrm>
            <a:off x="6263640" y="4081173"/>
            <a:ext cx="5074920" cy="1844139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5240">
            <a:solidFill>
              <a:srgbClr val="22C55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19672" y="4209189"/>
            <a:ext cx="45628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 BUỔI 7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19672" y="4833946"/>
            <a:ext cx="4562856" cy="722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Ingest snapshot mới (dữ liệu cập nhật hằng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ngày) để so sánh growth giữa 2 kỳ.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Demo dashboard DuckDB + Streamlit trực tiếp.</a:t>
            </a:r>
          </a:p>
          <a:p>
            <a:pPr algn="l" indent="0" marL="0">
              <a:buNone/>
            </a:pPr>
            <a:r>
              <a:rPr lang="en-US" sz="1100" dirty="0" b="0">
                <a:solidFill>
                  <a:srgbClr val="5B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Chốt đề cương Đồ án 3 (ML / nâng cao).</a:t>
            </a:r>
          </a:p>
        </p:txBody>
      </p:sp>
      <p:sp>
        <p:nvSpPr>
          <p:cNvPr id="17" name="Text 15"/>
          <p:cNvSpPr/>
          <p:nvPr/>
        </p:nvSpPr>
        <p:spPr>
          <a:xfrm>
            <a:off x="777240" y="6053328"/>
            <a:ext cx="10634472" cy="27920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0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evidence + commit + hiểu data flow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HUET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OpenAI</dc:creator>
  <cp:lastModifiedBy>OpenAI</cp:lastModifiedBy>
  <cp:revision>1</cp:revision>
  <dcterms:created xsi:type="dcterms:W3CDTF">2026-09-11T15:42:44Z</dcterms:created>
  <dcterms:modified xsi:type="dcterms:W3CDTF">2026-09-11T15:42:44Z</dcterms:modified>
</cp:coreProperties>
</file>