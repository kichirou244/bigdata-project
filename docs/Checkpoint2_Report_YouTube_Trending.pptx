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C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515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0" dirty="0">
                <a:solidFill>
                  <a:srgbClr val="D5E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ĐỒ ÁN 2 • CHECKPOINT 2</a:t>
            </a:r>
            <a:endParaRPr lang="en-US" sz="1900" dirty="0"/>
          </a:p>
        </p:txBody>
      </p:sp>
      <p:sp>
        <p:nvSpPr>
          <p:cNvPr id="3" name="Text 1"/>
          <p:cNvSpPr/>
          <p:nvPr/>
        </p:nvSpPr>
        <p:spPr>
          <a:xfrm>
            <a:off x="685800" y="1737360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→ Ingestion → Raw Storage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800" y="2788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50" dirty="0" b="0">
                <a:solidFill>
                  <a:srgbClr val="D5E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Nhóm: YouTube Trending Analytics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85800" y="32461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50" dirty="0" b="0">
                <a:solidFill>
                  <a:srgbClr val="D5E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Đề tài: Phân tích Xu hướng &amp; Tốc độ Tăng trưởng Video Thịnh hành YouTube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85800" y="37033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50" dirty="0" b="0">
                <a:solidFill>
                  <a:srgbClr val="D5E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Tag: checkpoint-2</a:t>
            </a:r>
            <a:endParaRPr lang="en-US" sz="1700" dirty="0"/>
          </a:p>
        </p:txBody>
      </p:sp>
      <p:sp>
        <p:nvSpPr>
          <p:cNvPr id="7" name="Rectangle 6"/>
          <p:cNvSpPr/>
          <p:nvPr/>
        </p:nvSpPr>
        <p:spPr>
          <a:xfrm>
            <a:off x="685800" y="5797296"/>
            <a:ext cx="10817352" cy="12802"/>
          </a:xfrm>
          <a:prstGeom prst="rect">
            <a:avLst/>
          </a:prstGeom>
          <a:solidFill>
            <a:srgbClr val="1E3A52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925312"/>
            <a:ext cx="10817352" cy="197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>
                <a:solidFill>
                  <a:srgbClr val="93ADC2"/>
                </a:solidFill>
                <a:latin typeface="Calibri"/>
              </a:rPr>
              <a:t>Buổi 6 · 20/10/2026   |   Phan Đình Bảo · Trương Đình Phúc · Trần Thị Khánh Linh · Đoàn Ngọc Trân Châu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2004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 2 • SLIDE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0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update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777240" y="1783080"/>
            <a:ext cx="10634472" cy="3840480"/>
          </a:xfrm>
          <a:prstGeom prst="roundRect">
            <a:avLst>
              <a:gd name="adj" fmla="val 1282"/>
            </a:avLst>
          </a:prstGeom>
          <a:solidFill>
            <a:srgbClr val="FFFFFF"/>
          </a:solidFill>
          <a:ln w="15240">
            <a:solidFill>
              <a:srgbClr val="1D4E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3272" y="1911096"/>
            <a:ext cx="10122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SƠ ĐỒ ARCHITECTURE — phần đã triển khai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33272" y="5074920"/>
            <a:ext cx="10122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 b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Trade-off: copy nguyên bản (tốn 8,59 GB đĩa) để đổi lấy khả năng truy vết và xử lý lại từ raw.</a:t>
            </a:r>
            <a:endParaRPr lang="en-US" sz="1400" dirty="0"/>
          </a:p>
        </p:txBody>
      </p:sp>
      <p:sp>
        <p:nvSpPr>
          <p:cNvPr id="9" name="Rounded Rectangle 8"/>
          <p:cNvSpPr/>
          <p:nvPr/>
        </p:nvSpPr>
        <p:spPr>
          <a:xfrm>
            <a:off x="1033272" y="2542032"/>
            <a:ext cx="3099816" cy="2240280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216152" y="2761488"/>
            <a:ext cx="457200" cy="384048"/>
          </a:xfrm>
          <a:prstGeom prst="roundRect">
            <a:avLst>
              <a:gd name="adj" fmla="val 25000"/>
            </a:avLst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6152" y="3319272"/>
            <a:ext cx="2734056" cy="246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rgbClr val="0B1F33"/>
                </a:solidFill>
                <a:latin typeface="Calibri"/>
              </a:rPr>
              <a:t>Kaggle CSV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16152" y="3776472"/>
            <a:ext cx="2734056" cy="361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>
                <a:solidFill>
                  <a:srgbClr val="5B6B7A"/>
                </a:solidFill>
                <a:latin typeface="Calibri"/>
              </a:rPr>
              <a:t>8,59 GB · 113 nước</a:t>
            </a:r>
          </a:p>
          <a:p>
            <a:r>
              <a:rPr sz="1100" b="0">
                <a:solidFill>
                  <a:srgbClr val="5B6B7A"/>
                </a:solidFill>
                <a:latin typeface="Calibri"/>
              </a:rPr>
              <a:t>6.094.047 record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5384" y="3552444"/>
            <a:ext cx="246888" cy="219456"/>
          </a:xfrm>
          <a:prstGeom prst="rightArrow">
            <a:avLst/>
          </a:prstGeom>
          <a:solidFill>
            <a:srgbClr val="8A9AA8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44568" y="2542032"/>
            <a:ext cx="3099816" cy="2240280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727448" y="2761488"/>
            <a:ext cx="457200" cy="384048"/>
          </a:xfrm>
          <a:prstGeom prst="roundRect">
            <a:avLst>
              <a:gd name="adj" fmla="val 25000"/>
            </a:avLst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27448" y="3319272"/>
            <a:ext cx="2734056" cy="246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rgbClr val="0B1F33"/>
                </a:solidFill>
                <a:latin typeface="Calibri"/>
              </a:rPr>
              <a:t>ingest_file.py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27448" y="3776472"/>
            <a:ext cx="2734056" cy="361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>
                <a:solidFill>
                  <a:srgbClr val="5B6B7A"/>
                </a:solidFill>
                <a:latin typeface="Calibri"/>
              </a:rPr>
              <a:t>quality gate + SHA-256</a:t>
            </a:r>
          </a:p>
          <a:p>
            <a:r>
              <a:rPr sz="1100" b="0">
                <a:solidFill>
                  <a:srgbClr val="5B6B7A"/>
                </a:solidFill>
                <a:latin typeface="Calibri"/>
              </a:rPr>
              <a:t>copy nguyên bản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726680" y="3552444"/>
            <a:ext cx="246888" cy="219456"/>
          </a:xfrm>
          <a:prstGeom prst="rightArrow">
            <a:avLst/>
          </a:prstGeom>
          <a:solidFill>
            <a:srgbClr val="8A9AA8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55864" y="2542032"/>
            <a:ext cx="3099816" cy="2240280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238744" y="2761488"/>
            <a:ext cx="457200" cy="384048"/>
          </a:xfrm>
          <a:prstGeom prst="roundRect">
            <a:avLst>
              <a:gd name="adj" fmla="val 25000"/>
            </a:avLst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38744" y="3319272"/>
            <a:ext cx="2734056" cy="246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rgbClr val="0B1F33"/>
                </a:solidFill>
                <a:latin typeface="Calibri"/>
              </a:rPr>
              <a:t>Raw storage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776472"/>
            <a:ext cx="2734056" cy="361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>
                <a:solidFill>
                  <a:srgbClr val="5B6B7A"/>
                </a:solidFill>
                <a:latin typeface="Calibri"/>
              </a:rPr>
              <a:t>data/raw/…/run_…/</a:t>
            </a:r>
          </a:p>
          <a:p>
            <a:r>
              <a:rPr sz="1100" b="0">
                <a:solidFill>
                  <a:srgbClr val="5B6B7A"/>
                </a:solidFill>
                <a:latin typeface="Calibri"/>
              </a:rPr>
              <a:t>+ manifest.json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2004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 2 • SLIDE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0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evidence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777240" y="1783080"/>
            <a:ext cx="5074920" cy="45720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15240">
            <a:solidFill>
              <a:srgbClr val="06B6D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3272" y="1911096"/>
            <a:ext cx="45628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33272" y="2331720"/>
            <a:ext cx="4562856" cy="13230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$ python src\env_check.py</a:t>
            </a:r>
            <a:endParaRPr lang="en-US" sz="1300" dirty="0"/>
          </a:p>
          <a:p>
            <a:pPr algn="l" indent="0" marL="0">
              <a:buNone/>
            </a:pPr>
            <a:r>
              <a:rPr lang="en-US" sz="12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/>
            </a:r>
          </a:p>
          <a:p>
            <a:pPr algn="l" indent="0" marL="0">
              <a:buNone/>
            </a:pPr>
            <a:r>
              <a:rPr lang="en-US" sz="12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Python   : 3.12.10</a:t>
            </a:r>
          </a:p>
          <a:p>
            <a:pPr algn="l" indent="0" marL="0">
              <a:buNone/>
            </a:pPr>
            <a:r>
              <a:rPr lang="en-US" sz="12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Java     : 17.0.20.1</a:t>
            </a:r>
          </a:p>
          <a:p>
            <a:pPr algn="l" indent="0" marL="0">
              <a:buNone/>
            </a:pPr>
            <a:r>
              <a:rPr lang="en-US" sz="12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Spark    : 3.5.1</a:t>
            </a:r>
          </a:p>
          <a:p>
            <a:pPr algn="l" indent="0" marL="0">
              <a:buNone/>
            </a:pPr>
            <a:r>
              <a:rPr lang="en-US" sz="12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Count    : 1000000</a:t>
            </a:r>
          </a:p>
          <a:p>
            <a:pPr algn="l" indent="0" marL="0">
              <a:buNone/>
            </a:pPr>
            <a:r>
              <a:rPr lang="en-US" sz="1200" dirty="0" b="1">
                <a:solidFill>
                  <a:srgbClr val="0E7C4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RESULT   : PASS (exit 0)</a:t>
            </a:r>
          </a:p>
        </p:txBody>
      </p:sp>
      <p:sp>
        <p:nvSpPr>
          <p:cNvPr id="8" name="Shape 6"/>
          <p:cNvSpPr/>
          <p:nvPr/>
        </p:nvSpPr>
        <p:spPr>
          <a:xfrm>
            <a:off x="6263640" y="1783080"/>
            <a:ext cx="5074920" cy="1486487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5240">
            <a:solidFill>
              <a:srgbClr val="1D4ED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19672" y="1911096"/>
            <a:ext cx="45628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COMMAND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519672" y="2331720"/>
            <a:ext cx="4562856" cy="4961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python -m venv .venv</a:t>
            </a:r>
            <a:endParaRPr lang="en-US" sz="1300" dirty="0"/>
          </a:p>
          <a:p>
            <a:pPr algn="l" indent="0" marL="0">
              <a:buNone/>
            </a:pPr>
            <a:r>
              <a:rPr lang="en-US" sz="105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.venv\Scripts\pip install -r requirements.txt</a:t>
            </a:r>
          </a:p>
          <a:p>
            <a:pPr algn="l" indent="0" marL="0">
              <a:buNone/>
            </a:pPr>
            <a:r>
              <a:rPr lang="en-US" sz="105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.venv\Scripts\python.exe src\env_check.py</a:t>
            </a:r>
          </a:p>
        </p:txBody>
      </p:sp>
      <p:sp>
        <p:nvSpPr>
          <p:cNvPr id="11" name="Shape 9"/>
          <p:cNvSpPr/>
          <p:nvPr/>
        </p:nvSpPr>
        <p:spPr>
          <a:xfrm>
            <a:off x="6263640" y="3452447"/>
            <a:ext cx="5074920" cy="136808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524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19672" y="3580463"/>
            <a:ext cx="45628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MODE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519672" y="4001087"/>
            <a:ext cx="4562856" cy="37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 b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local[*] · Windows · Spark 3.5.1 + JDK 17</a:t>
            </a:r>
            <a:endParaRPr lang="en-US" sz="1300" dirty="0"/>
          </a:p>
          <a:p>
            <a:pPr algn="l" indent="0" marL="0">
              <a:buNone/>
            </a:pPr>
            <a:r>
              <a:rPr lang="en-US" sz="1150" dirty="0" b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GB RAM · 16 CPU · không Docker/cluster</a:t>
            </a:r>
          </a:p>
        </p:txBody>
      </p:sp>
      <p:sp>
        <p:nvSpPr>
          <p:cNvPr id="14" name="Shape 12"/>
          <p:cNvSpPr/>
          <p:nvPr/>
        </p:nvSpPr>
        <p:spPr>
          <a:xfrm>
            <a:off x="6263640" y="5003415"/>
            <a:ext cx="5074920" cy="1351665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5240">
            <a:solidFill>
              <a:srgbClr val="EF444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19672" y="5131431"/>
            <a:ext cx="45628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BLOCKER (đã xử lý)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519672" y="5552055"/>
            <a:ext cx="4562856" cy="361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 b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Thiếu winutils.exe khi Spark ghi Parquet.</a:t>
            </a:r>
            <a:endParaRPr lang="en-US" sz="1300" dirty="0"/>
          </a:p>
          <a:p>
            <a:pPr algn="l" indent="0" marL="0">
              <a:buNone/>
            </a:pPr>
            <a:r>
              <a:rPr lang="en-US" sz="1100" dirty="0" b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transform.py tự set HADOOP_HOME + PATH vào hadoop/bin.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2004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 2 • SLIDE 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0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 &amp; ingestion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777240" y="1783080"/>
            <a:ext cx="5074920" cy="1541995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5240">
            <a:solidFill>
              <a:srgbClr val="F59E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3272" y="1911096"/>
            <a:ext cx="45628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33272" y="2331720"/>
            <a:ext cx="4562856" cy="6615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Kaggle — Trending YouTube Videos (113 countries)</a:t>
            </a:r>
            <a:endParaRPr lang="en-US" sz="1300" dirty="0"/>
          </a:p>
          <a:p>
            <a:pPr algn="l" indent="0" marL="0">
              <a:buNone/>
            </a:pPr>
            <a:r>
              <a:rPr lang="en-US" sz="105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kaggle.com/datasets/asaniczka/</a:t>
            </a:r>
          </a:p>
          <a:p>
            <a:pPr algn="l" indent="0" marL="0">
              <a:buNone/>
            </a:pPr>
            <a:r>
              <a:rPr lang="en-US" sz="105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trending-youtube-videos-113-countries</a:t>
            </a:r>
          </a:p>
          <a:p>
            <a:pPr algn="l" indent="0" marL="0">
              <a:buNone/>
            </a:pPr>
            <a:r>
              <a:rPr lang="en-US" sz="105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License ODC-By · tải 2026-10-20</a:t>
            </a:r>
          </a:p>
        </p:txBody>
      </p:sp>
      <p:sp>
        <p:nvSpPr>
          <p:cNvPr id="8" name="Shape 6"/>
          <p:cNvSpPr/>
          <p:nvPr/>
        </p:nvSpPr>
        <p:spPr>
          <a:xfrm>
            <a:off x="777240" y="3507955"/>
            <a:ext cx="5074920" cy="1422452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5240">
            <a:solidFill>
              <a:srgbClr val="1D4ED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33272" y="3635971"/>
            <a:ext cx="45628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/ VERSION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33272" y="4056595"/>
            <a:ext cx="4562856" cy="5419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 b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8.591.418.141 bytes (8,59 GB)</a:t>
            </a:r>
            <a:endParaRPr lang="en-US" sz="1300" dirty="0"/>
          </a:p>
          <a:p>
            <a:pPr algn="l" indent="0" marL="0">
              <a:buNone/>
            </a:pPr>
            <a:r>
              <a:rPr lang="en-US" sz="1100" dirty="0" b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6.094.047 record · 18 cột · 113 quốc gia</a:t>
            </a:r>
          </a:p>
          <a:p>
            <a:pPr algn="l" indent="0" marL="0">
              <a:buNone/>
            </a:pPr>
            <a:r>
              <a:rPr lang="en-US" sz="1100" dirty="0" b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 2023-10-26 → 2026-10-20</a:t>
            </a:r>
          </a:p>
        </p:txBody>
      </p:sp>
      <p:sp>
        <p:nvSpPr>
          <p:cNvPr id="11" name="Shape 9"/>
          <p:cNvSpPr/>
          <p:nvPr/>
        </p:nvSpPr>
        <p:spPr>
          <a:xfrm>
            <a:off x="777240" y="5113288"/>
            <a:ext cx="5074920" cy="1241792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524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33272" y="5241304"/>
            <a:ext cx="45628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PROVENANCE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33272" y="5661928"/>
            <a:ext cx="4562856" cy="361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 b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nguyên bản + SHA-256 + manifest</a:t>
            </a:r>
            <a:endParaRPr lang="en-US" sz="1300" dirty="0"/>
          </a:p>
          <a:p>
            <a:pPr algn="l" indent="0" marL="0">
              <a:buNone/>
            </a:pPr>
            <a:r>
              <a:rPr lang="en-US" sz="1100" dirty="0" b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không sửa 1 byte · file lớn không commit</a:t>
            </a:r>
          </a:p>
        </p:txBody>
      </p:sp>
      <p:sp>
        <p:nvSpPr>
          <p:cNvPr id="14" name="Shape 12"/>
          <p:cNvSpPr/>
          <p:nvPr/>
        </p:nvSpPr>
        <p:spPr>
          <a:xfrm>
            <a:off x="6263640" y="1783080"/>
            <a:ext cx="5074920" cy="4572000"/>
          </a:xfrm>
          <a:prstGeom prst="roundRect">
            <a:avLst>
              <a:gd name="adj" fmla="val 1299"/>
            </a:avLst>
          </a:prstGeom>
          <a:solidFill>
            <a:srgbClr val="FFFFFF"/>
          </a:solidFill>
          <a:ln w="15240">
            <a:solidFill>
              <a:srgbClr val="22C55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19672" y="1911096"/>
            <a:ext cx="45628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INGESTION EVIDENCE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519672" y="2331720"/>
            <a:ext cx="4562856" cy="24255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$ python src\ingest_file.py --source &lt;csv&gt; \</a:t>
            </a:r>
            <a:endParaRPr lang="en-US" sz="1300" dirty="0"/>
          </a:p>
          <a:p>
            <a:pPr algn="l" indent="0" marL="0">
              <a:buNone/>
            </a:pPr>
            <a:r>
              <a:rPr lang="en-US" sz="11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      --dataset youtube_trending</a:t>
            </a:r>
          </a:p>
          <a:p>
            <a:pPr algn="l" indent="0" marL="0">
              <a:buNone/>
            </a:pPr>
            <a:r>
              <a:rPr lang="en-US" sz="11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/>
            </a:r>
          </a:p>
          <a:p>
            <a:pPr algn="l" indent="0" marL="0">
              <a:buNone/>
            </a:pPr>
            <a:r>
              <a:rPr lang="en-US" sz="11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success | files=1</a:t>
            </a:r>
          </a:p>
          <a:p>
            <a:pPr algn="l" indent="0" marL="0">
              <a:buNone/>
            </a:pPr>
            <a:r>
              <a:rPr lang="en-US" sz="11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  bytes=8591418141</a:t>
            </a:r>
          </a:p>
          <a:p>
            <a:pPr algn="l" indent="0" marL="0">
              <a:buNone/>
            </a:pPr>
            <a:r>
              <a:rPr lang="en-US" sz="11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  sha256=4310930bd2d1…</a:t>
            </a:r>
          </a:p>
          <a:p>
            <a:pPr algn="l" indent="0" marL="0">
              <a:buNone/>
            </a:pPr>
            <a:r>
              <a:rPr lang="en-US" sz="11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  run=run_20261020T143013Z</a:t>
            </a:r>
          </a:p>
          <a:p>
            <a:pPr algn="l" indent="0" marL="0">
              <a:buNone/>
            </a:pPr>
            <a:r>
              <a:rPr lang="en-US" sz="11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/>
            </a:r>
          </a:p>
          <a:p>
            <a:pPr algn="l" indent="0" marL="0">
              <a:buNone/>
            </a:pPr>
            <a:r>
              <a:rPr lang="en-US" sz="11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$ python src\verify_raw_records.py</a:t>
            </a:r>
          </a:p>
          <a:p>
            <a:pPr algn="l" indent="0" marL="0">
              <a:buNone/>
            </a:pPr>
            <a:r>
              <a:rPr lang="en-US" sz="11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  records=6,094,047</a:t>
            </a:r>
          </a:p>
          <a:p>
            <a:pPr algn="l" indent="0" marL="0">
              <a:buNone/>
            </a:pPr>
            <a:r>
              <a:rPr lang="en-US" sz="11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  physical_lines=134,442,959</a:t>
            </a:r>
          </a:p>
          <a:p>
            <a:pPr algn="l" indent="0" marL="0">
              <a:buNone/>
            </a:pPr>
            <a:r>
              <a:rPr lang="en-US" sz="11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  multi_line=True</a:t>
            </a:r>
          </a:p>
          <a:p>
            <a:pPr algn="l" indent="0" marL="0">
              <a:buNone/>
            </a:pPr>
            <a:r>
              <a:rPr lang="en-US" sz="11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/>
            </a:r>
          </a:p>
          <a:p>
            <a:pPr algn="l" indent="0" marL="0">
              <a:buNone/>
            </a:pPr>
            <a:r>
              <a:rPr lang="en-US" sz="1100" dirty="0" b="1">
                <a:solidFill>
                  <a:srgbClr val="0E7C4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Exit code = 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2004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 2 • SLIDE 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0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storage &amp; manifest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777240" y="1783080"/>
            <a:ext cx="5303520" cy="4572000"/>
          </a:xfrm>
          <a:prstGeom prst="roundRect">
            <a:avLst>
              <a:gd name="adj" fmla="val 1299"/>
            </a:avLst>
          </a:prstGeom>
          <a:solidFill>
            <a:srgbClr val="FFFFFF"/>
          </a:solidFill>
          <a:ln w="15240">
            <a:solidFill>
              <a:srgbClr val="22C55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3272" y="1911096"/>
            <a:ext cx="4791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STORAGE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33272" y="2331720"/>
            <a:ext cx="4791456" cy="13230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data/raw/youtube_trending/</a:t>
            </a:r>
            <a:endParaRPr lang="en-US" sz="1300" dirty="0"/>
          </a:p>
          <a:p>
            <a:pPr algn="l" indent="0" marL="0">
              <a:buNone/>
            </a:pPr>
            <a:r>
              <a:rPr lang="en-US" sz="105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  ingest_date=2026-10-20/</a:t>
            </a:r>
          </a:p>
          <a:p>
            <a:pPr algn="l" indent="0" marL="0">
              <a:buNone/>
            </a:pPr>
            <a:r>
              <a:rPr lang="en-US" sz="105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    run_20261020T143013Z/</a:t>
            </a:r>
          </a:p>
          <a:p>
            <a:pPr algn="l" indent="0" marL="0">
              <a:buNone/>
            </a:pPr>
            <a:r>
              <a:rPr lang="en-US" sz="105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      trending_yt_videos_113_countries.csv</a:t>
            </a:r>
          </a:p>
          <a:p>
            <a:pPr algn="l" indent="0" marL="0">
              <a:buNone/>
            </a:pPr>
            <a:r>
              <a:rPr lang="en-US" sz="105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        8.591.418.141 bytes</a:t>
            </a:r>
          </a:p>
          <a:p>
            <a:pPr algn="l" indent="0" marL="0">
              <a:buNone/>
            </a:pPr>
            <a:r>
              <a:rPr lang="en-US" sz="105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      manifest.json</a:t>
            </a:r>
          </a:p>
          <a:p>
            <a:pPr algn="l" indent="0" marL="0">
              <a:buNone/>
            </a:pPr>
            <a:r>
              <a:rPr lang="en-US" sz="105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/>
            </a:r>
          </a:p>
          <a:p>
            <a:pPr algn="l" indent="0" marL="0">
              <a:buNone/>
            </a:pPr>
            <a:r>
              <a:rPr lang="en-US" sz="105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Không sửa 1 byte · size + SHA-256 khớp manifest</a:t>
            </a:r>
          </a:p>
        </p:txBody>
      </p:sp>
      <p:sp>
        <p:nvSpPr>
          <p:cNvPr id="8" name="Shape 6"/>
          <p:cNvSpPr/>
          <p:nvPr/>
        </p:nvSpPr>
        <p:spPr>
          <a:xfrm>
            <a:off x="6263640" y="1783080"/>
            <a:ext cx="5074920" cy="4572000"/>
          </a:xfrm>
          <a:prstGeom prst="roundRect">
            <a:avLst>
              <a:gd name="adj" fmla="val 1299"/>
            </a:avLst>
          </a:prstGeom>
          <a:solidFill>
            <a:srgbClr val="FFFFFF"/>
          </a:solidFill>
          <a:ln w="15240">
            <a:solidFill>
              <a:srgbClr val="1D4ED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19672" y="1911096"/>
            <a:ext cx="45628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MANIFEST / LOG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519672" y="2331720"/>
            <a:ext cx="4562856" cy="19845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dataset     : youtube_trending</a:t>
            </a:r>
            <a:endParaRPr lang="en-US" sz="1300" dirty="0"/>
          </a:p>
          <a:p>
            <a:pPr algn="l" indent="0" marL="0">
              <a:buNone/>
            </a:pPr>
            <a:r>
              <a:rPr lang="en-US" sz="105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source      : …/trending_yt_videos_113_countries.csv</a:t>
            </a:r>
          </a:p>
          <a:p>
            <a:pPr algn="l" indent="0" marL="0">
              <a:buNone/>
            </a:pPr>
            <a:r>
              <a:rPr lang="en-US" sz="105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ingested_at : 2026-10-20T14:30:13+00:00</a:t>
            </a:r>
          </a:p>
          <a:p>
            <a:pPr algn="l" indent="0" marL="0">
              <a:buNone/>
            </a:pPr>
            <a:r>
              <a:rPr lang="en-US" sz="105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bytes       : 8591418141</a:t>
            </a:r>
          </a:p>
          <a:p>
            <a:pPr algn="l" indent="0" marL="0">
              <a:buNone/>
            </a:pPr>
            <a:r>
              <a:rPr lang="en-US" sz="105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sha256      : 4310930bd2d1… (64 ký tự)</a:t>
            </a:r>
          </a:p>
          <a:p>
            <a:pPr algn="l" indent="0" marL="0">
              <a:buNone/>
            </a:pPr>
            <a:r>
              <a:rPr lang="en-US" sz="105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destination : data/raw/…/run_…/</a:t>
            </a:r>
          </a:p>
          <a:p>
            <a:pPr algn="l" indent="0" marL="0">
              <a:buNone/>
            </a:pPr>
            <a:r>
              <a:rPr lang="en-US" sz="105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records     : 6094047 (RFC4180)</a:t>
            </a:r>
          </a:p>
          <a:p>
            <a:pPr algn="l" indent="0" marL="0">
              <a:buNone/>
            </a:pPr>
            <a:r>
              <a:rPr lang="en-US" sz="105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status      : success</a:t>
            </a:r>
          </a:p>
          <a:p>
            <a:pPr algn="l" indent="0" marL="0">
              <a:buNone/>
            </a:pPr>
            <a:r>
              <a:rPr lang="en-US" sz="105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amendments  : 1 mục (audit trail)</a:t>
            </a:r>
          </a:p>
          <a:p>
            <a:pPr algn="l" indent="0" marL="0">
              <a:buNone/>
            </a:pPr>
            <a:r>
              <a:rPr lang="en-US" sz="105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/>
            </a:r>
          </a:p>
          <a:p>
            <a:pPr algn="l" indent="0" marL="0">
              <a:buNone/>
            </a:pPr>
            <a:r>
              <a:rPr lang="en-US" sz="105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logs/env_check.txt   → PASS</a:t>
            </a:r>
          </a:p>
          <a:p>
            <a:pPr algn="l" indent="0" marL="0">
              <a:buNone/>
            </a:pPr>
            <a:r>
              <a:rPr lang="en-US" sz="105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logs/ingest.log      → success + duplicate_skip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2004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 2 • SLIDE 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0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Rerun behavior, blocker &amp; next action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777240" y="1783080"/>
            <a:ext cx="5074920" cy="21945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5240">
            <a:solidFill>
              <a:srgbClr val="F59E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3272" y="1911096"/>
            <a:ext cx="45628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CHẠY INGEST 3 LẦN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33272" y="2331720"/>
            <a:ext cx="4562856" cy="945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lần 1: tạo run + copy + manifest</a:t>
            </a:r>
            <a:endParaRPr lang="en-US" sz="1300" dirty="0"/>
          </a:p>
          <a:p>
            <a:pPr algn="l" indent="0" marL="0">
              <a:buNone/>
            </a:pPr>
            <a:r>
              <a:rPr lang="en-US" sz="10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lần 2–3: hash trùng → SKIP</a:t>
            </a:r>
          </a:p>
          <a:p>
            <a:pPr algn="l" indent="0" marL="0">
              <a:buNone/>
            </a:pPr>
            <a:r>
              <a:rPr lang="en-US" sz="10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→ raw giữ nguyên, đúng 1 run</a:t>
            </a:r>
          </a:p>
          <a:p>
            <a:pPr algn="l" indent="0" marL="0">
              <a:buNone/>
            </a:pPr>
            <a:r>
              <a:rPr lang="en-US" sz="10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/>
            </a:r>
          </a:p>
          <a:p>
            <a:pPr algn="l" indent="0" marL="0">
              <a:buNone/>
            </a:pPr>
            <a:r>
              <a:rPr lang="en-US" sz="10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hash khác → run mới (append)</a:t>
            </a:r>
          </a:p>
          <a:p>
            <a:pPr algn="l" indent="0" marL="0">
              <a:buNone/>
            </a:pPr>
            <a:r>
              <a:rPr lang="en-US" sz="10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gate fail → exit 1</a:t>
            </a:r>
          </a:p>
        </p:txBody>
      </p:sp>
      <p:sp>
        <p:nvSpPr>
          <p:cNvPr id="8" name="Shape 6"/>
          <p:cNvSpPr/>
          <p:nvPr/>
        </p:nvSpPr>
        <p:spPr>
          <a:xfrm>
            <a:off x="6263640" y="1783080"/>
            <a:ext cx="5074920" cy="21945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5240">
            <a:solidFill>
              <a:srgbClr val="EF444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19672" y="1911096"/>
            <a:ext cx="45628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BLOCKER LỚN NHẤT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519672" y="2331720"/>
            <a:ext cx="4562856" cy="5173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 b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nguồn thiếu category_id; description nhiều dòng → Spark đếm sai 17 lần.</a:t>
            </a:r>
            <a:endParaRPr lang="en-US" sz="1300" dirty="0"/>
          </a:p>
          <a:p>
            <a:pPr algn="l" indent="0" marL="0">
              <a:buNone/>
            </a:pPr>
            <a:r>
              <a:rPr lang="en-US" sz="1050" dirty="0" b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Đã xử lý: SRC_MAP + split_csv.py + verify_raw_records.py.</a:t>
            </a:r>
          </a:p>
          <a:p>
            <a:pPr algn="l" indent="0" marL="0">
              <a:buNone/>
            </a:pPr>
            <a:r>
              <a:rPr lang="en-US" sz="1050" dirty="0" b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Owner: Phúc · deadline: trước Buổi 7.</a:t>
            </a:r>
          </a:p>
        </p:txBody>
      </p:sp>
      <p:sp>
        <p:nvSpPr>
          <p:cNvPr id="11" name="Shape 9"/>
          <p:cNvSpPr/>
          <p:nvPr/>
        </p:nvSpPr>
        <p:spPr>
          <a:xfrm>
            <a:off x="777240" y="4160520"/>
            <a:ext cx="5074920" cy="21945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5240">
            <a:solidFill>
              <a:srgbClr val="1D4ED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33272" y="4288536"/>
            <a:ext cx="45628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LINKS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33272" y="4709160"/>
            <a:ext cx="4562856" cy="945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tag: checkpoint-2</a:t>
            </a:r>
            <a:endParaRPr lang="en-US" sz="1300" dirty="0"/>
          </a:p>
          <a:p>
            <a:pPr algn="l" indent="0" marL="0">
              <a:buNone/>
            </a:pPr>
            <a:r>
              <a:rPr lang="en-US" sz="10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manifest: data/raw/…/run_…/manifest.json</a:t>
            </a:r>
          </a:p>
          <a:p>
            <a:pPr algn="l" indent="0" marL="0">
              <a:buNone/>
            </a:pPr>
            <a:r>
              <a:rPr lang="en-US" sz="10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logs/env_check.txt</a:t>
            </a:r>
          </a:p>
          <a:p>
            <a:pPr algn="l" indent="0" marL="0">
              <a:buNone/>
            </a:pPr>
            <a:r>
              <a:rPr lang="en-US" sz="10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logs/ingest.log</a:t>
            </a:r>
          </a:p>
          <a:p>
            <a:pPr algn="l" indent="0" marL="0">
              <a:buNone/>
            </a:pPr>
            <a:r>
              <a:rPr lang="en-US" sz="10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docs/Checkpoint2_Report_*.pptx</a:t>
            </a:r>
          </a:p>
          <a:p>
            <a:pPr algn="l" indent="0" marL="0">
              <a:buNone/>
            </a:pPr>
            <a:r>
              <a:rPr lang="en-US" sz="10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docs/Checkpoint2_Brief_Filled.docx</a:t>
            </a:r>
          </a:p>
        </p:txBody>
      </p:sp>
      <p:sp>
        <p:nvSpPr>
          <p:cNvPr id="14" name="Shape 12"/>
          <p:cNvSpPr/>
          <p:nvPr/>
        </p:nvSpPr>
        <p:spPr>
          <a:xfrm>
            <a:off x="6263640" y="4160520"/>
            <a:ext cx="5074920" cy="21945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5240">
            <a:solidFill>
              <a:srgbClr val="22C55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19672" y="4288536"/>
            <a:ext cx="45628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TRƯỚC BUỔI 7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519672" y="4709160"/>
            <a:ext cx="4562856" cy="361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 b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1) Ingest snapshot mới để so sánh growth 2 kỳ.</a:t>
            </a:r>
            <a:endParaRPr lang="en-US" sz="1300" dirty="0"/>
          </a:p>
          <a:p>
            <a:pPr algn="l" indent="0" marL="0">
              <a:buNone/>
            </a:pPr>
            <a:r>
              <a:rPr lang="en-US" sz="1100" dirty="0" b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2) Chốt đề cương Đồ án 3.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HUET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OpenAI</dc:creator>
  <cp:lastModifiedBy>OpenAI</cp:lastModifiedBy>
  <cp:revision>1</cp:revision>
  <dcterms:created xsi:type="dcterms:W3CDTF">2026-09-11T15:42:44Z</dcterms:created>
  <dcterms:modified xsi:type="dcterms:W3CDTF">2026-09-11T15:42:44Z</dcterms:modified>
</cp:coreProperties>
</file>